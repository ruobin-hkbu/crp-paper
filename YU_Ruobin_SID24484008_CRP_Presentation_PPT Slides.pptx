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68" r:id="rId5"/>
    <p:sldId id="257" r:id="rId6"/>
    <p:sldId id="258" r:id="rId7"/>
    <p:sldId id="266" r:id="rId8"/>
    <p:sldId id="260" r:id="rId9"/>
    <p:sldId id="261" r:id="rId10"/>
    <p:sldId id="263" r:id="rId11"/>
    <p:sldId id="264" r:id="rId12"/>
    <p:sldId id="265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CRP topic and the central tension: automation vs augmentation in creative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debate and the need for a human‑centered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anxiety of machine influence and shifting attitudes.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to broader AI ethics and pluralism.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AI as a creativity catalyst, not an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to Shelley’s ‘invisible nature of man’.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into the hybrid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transparency and user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Agency comes from transforming, not selecting.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poetry.aitutor.ink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9725"/>
            <a:ext cx="7772400" cy="1470025"/>
          </a:xfrm>
        </p:spPr>
        <p:txBody>
          <a:bodyPr/>
          <a:lstStyle/>
          <a:p>
            <a:r>
              <a:rPr>
                <a:latin typeface="Times New Roman" panose="02020603050405020304"/>
              </a:rPr>
              <a:t>Mapping Human and AI Partnership</a:t>
            </a:r>
            <a:r>
              <a:rPr lang="en-GB">
                <a:latin typeface="Times New Roman" panose="02020603050405020304"/>
              </a:rPr>
              <a:t>:</a:t>
            </a:r>
            <a:endParaRPr lang="en-GB">
              <a:latin typeface="Times New Roman" panose="020206030504050203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3515" y="3063875"/>
            <a:ext cx="6400800" cy="1752600"/>
          </a:xfrm>
        </p:spPr>
        <p:txBody>
          <a:bodyPr/>
          <a:lstStyle/>
          <a:p>
            <a:r>
              <a:rPr lang="en-GB">
                <a:solidFill>
                  <a:srgbClr val="00B0F0"/>
                </a:solidFill>
                <a:latin typeface="Times New Roman" panose="02020603050405020304"/>
              </a:rPr>
              <a:t>A Study of </a:t>
            </a:r>
            <a:r>
              <a:rPr>
                <a:solidFill>
                  <a:srgbClr val="00B0F0"/>
                </a:solidFill>
                <a:latin typeface="Times New Roman" panose="02020603050405020304"/>
              </a:rPr>
              <a:t>AI‑Assisted Poetics and Human‑AI Co‑creative Poetry Writing</a:t>
            </a:r>
            <a:endParaRPr>
              <a:solidFill>
                <a:srgbClr val="00B0F0"/>
              </a:solidFill>
              <a:latin typeface="Times New Roman" panose="020206030504050203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1609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08910" y="5067300"/>
            <a:ext cx="3967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zh-CN">
                <a:latin typeface="Times New Roman" panose="02020603050405020304" charset="0"/>
                <a:cs typeface="Times New Roman" panose="02020603050405020304" charset="0"/>
              </a:rPr>
              <a:t>Yu Ruobin          Department of English</a:t>
            </a:r>
            <a:endParaRPr lang="en-GB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zh-CN" sz="3600">
                <a:latin typeface="Times New Roman" panose="02020603050405020304" charset="0"/>
                <a:cs typeface="Times New Roman" panose="02020603050405020304" charset="0"/>
              </a:rPr>
              <a:t>Agenda</a:t>
            </a:r>
            <a:endParaRPr lang="en-GB" altLang="zh-CN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650" y="1539875"/>
            <a:ext cx="9357360" cy="452628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GB" altLang="zh-CN" sz="2800">
                <a:latin typeface="Times New Roman" panose="02020603050405020304" charset="0"/>
                <a:cs typeface="Times New Roman" panose="02020603050405020304" charset="0"/>
              </a:rPr>
              <a:t>1. Research Focus </a:t>
            </a:r>
            <a:endParaRPr lang="en-GB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GB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zh-CN" sz="2800">
                <a:latin typeface="Times New Roman" panose="02020603050405020304" charset="0"/>
                <a:cs typeface="Times New Roman" panose="02020603050405020304" charset="0"/>
              </a:rPr>
              <a:t>2. Literature Review</a:t>
            </a:r>
            <a:endParaRPr lang="en-GB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zh-CN" sz="280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GB" altLang="zh-CN" sz="2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-Review the reading list across three categories</a:t>
            </a:r>
            <a:endParaRPr lang="en-GB" altLang="zh-CN" sz="2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GB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zh-CN" sz="2800">
                <a:latin typeface="Times New Roman" panose="02020603050405020304" charset="0"/>
                <a:cs typeface="Times New Roman" panose="02020603050405020304" charset="0"/>
              </a:rPr>
              <a:t>3. Methodology</a:t>
            </a:r>
            <a:endParaRPr lang="en-GB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zh-CN" sz="280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GB" altLang="zh-CN" sz="2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 - Mix-methods design: Quantitative+qualitative</a:t>
            </a:r>
            <a:endParaRPr lang="en-GB" altLang="zh-CN" sz="2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GB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zh-CN" sz="2800">
                <a:latin typeface="Times New Roman" panose="02020603050405020304" charset="0"/>
                <a:cs typeface="Times New Roman" panose="02020603050405020304" charset="0"/>
              </a:rPr>
              <a:t>4. Findings</a:t>
            </a:r>
            <a:endParaRPr lang="en-GB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zh-CN" sz="280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GB" altLang="zh-CN" sz="2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 - Research development and key takeaways</a:t>
            </a:r>
            <a:endParaRPr lang="en-GB" altLang="zh-CN" sz="2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70" y="526733"/>
            <a:ext cx="8229600" cy="1143000"/>
          </a:xfrm>
        </p:spPr>
        <p:txBody>
          <a:bodyPr/>
          <a:lstStyle/>
          <a:p>
            <a:r>
              <a:rPr>
                <a:latin typeface="Times New Roman" panose="02020603050405020304"/>
              </a:rPr>
              <a:t>Research </a:t>
            </a:r>
            <a:r>
              <a:rPr lang="en-GB">
                <a:latin typeface="Times New Roman" panose="02020603050405020304"/>
              </a:rPr>
              <a:t>Focus</a:t>
            </a:r>
            <a:r>
              <a:rPr>
                <a:latin typeface="Times New Roman" panose="02020603050405020304"/>
              </a:rPr>
              <a:t> </a:t>
            </a:r>
            <a:endParaRPr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935" y="2202180"/>
            <a:ext cx="8229600" cy="3672840"/>
          </a:xfrm>
        </p:spPr>
        <p:txBody>
          <a:bodyPr>
            <a:normAutofit fontScale="90000"/>
          </a:bodyPr>
          <a:lstStyle/>
          <a:p>
            <a:pPr marL="0" indent="0" algn="just">
              <a:buNone/>
              <a:defRPr sz="2400">
                <a:latin typeface="Times New Roman" panose="02020603050405020304"/>
              </a:defRPr>
            </a:pPr>
            <a:r>
              <a:rPr lang="en-GB" altLang="en-US" sz="3200"/>
              <a:t>  </a:t>
            </a:r>
            <a:r>
              <a:rPr lang="en-US" altLang="zh-CN" sz="3200"/>
              <a:t>This </a:t>
            </a:r>
            <a:r>
              <a:rPr lang="en-GB" altLang="en-US" sz="3200"/>
              <a:t>research tries to</a:t>
            </a:r>
            <a:r>
              <a:rPr lang="en-US" altLang="zh-CN" sz="3200"/>
              <a:t> </a:t>
            </a:r>
            <a:r>
              <a:rPr lang="en-GB" altLang="en-US" sz="3200"/>
              <a:t>bridge</a:t>
            </a:r>
            <a:r>
              <a:rPr lang="en-US" altLang="zh-CN" sz="3200"/>
              <a:t> humanities scholarship, machine</a:t>
            </a:r>
            <a:r>
              <a:rPr lang="en-GB" altLang="en-US" sz="3200"/>
              <a:t> </a:t>
            </a:r>
            <a:r>
              <a:rPr lang="en-US" altLang="zh-CN" sz="3200"/>
              <a:t>learning practice, and AI philosophy debates on</a:t>
            </a:r>
            <a:r>
              <a:rPr lang="en-GB" altLang="en-US" sz="3200"/>
              <a:t> AI literature,</a:t>
            </a:r>
            <a:r>
              <a:rPr lang="en-US" altLang="zh-CN" sz="3200"/>
              <a:t> poetry</a:t>
            </a:r>
            <a:r>
              <a:rPr lang="en-GB" altLang="en-US" sz="3200"/>
              <a:t> in particular</a:t>
            </a:r>
            <a:r>
              <a:rPr lang="en-US" altLang="zh-CN" sz="3200"/>
              <a:t>, by</a:t>
            </a:r>
            <a:r>
              <a:rPr lang="en-GB" altLang="en-US" sz="3200"/>
              <a:t> tracing the need for human-AI collaboration,</a:t>
            </a:r>
            <a:r>
              <a:rPr lang="en-US" altLang="zh-CN" sz="3200"/>
              <a:t> identifying the central problem as preserving human</a:t>
            </a:r>
            <a:r>
              <a:rPr lang="en-GB" altLang="en-US" sz="3200"/>
              <a:t> decisions, </a:t>
            </a:r>
            <a:r>
              <a:rPr lang="en-US" altLang="zh-CN" sz="3200"/>
              <a:t> </a:t>
            </a:r>
            <a:r>
              <a:rPr lang="en-GB" altLang="en-US" sz="3200"/>
              <a:t>creative </a:t>
            </a:r>
            <a:r>
              <a:rPr lang="en-US" altLang="zh-CN" sz="3200"/>
              <a:t>agency</a:t>
            </a:r>
            <a:r>
              <a:rPr lang="en-GB" altLang="en-US" sz="3200"/>
              <a:t>,</a:t>
            </a:r>
            <a:r>
              <a:rPr lang="en-US" altLang="zh-CN" sz="3200"/>
              <a:t> and value pluralism amid the rise of increasingly fluent but potentially homogenizing language models.</a:t>
            </a:r>
            <a:endParaRPr lang="en-US" altLang="zh-CN" sz="3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sz="3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sz="3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sz="3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 panose="02020603050405020304"/>
              </a:rPr>
              <a:t>Literature Review</a:t>
            </a:r>
            <a:endParaRPr lang="en-GB"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/>
              <a:t>Review of reading list: </a:t>
            </a:r>
            <a:endParaRPr lang="en-GB"/>
          </a:p>
          <a:p>
            <a:pPr marL="0" indent="0">
              <a:buNone/>
              <a:defRPr sz="2400">
                <a:latin typeface="Times New Roman" panose="02020603050405020304"/>
              </a:defRPr>
            </a:p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/>
              <a:t>i) Theoretical and Ethical Approaches to AI</a:t>
            </a:r>
            <a:endParaRPr lang="en-GB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/>
              <a:t>ii) Machine Learning Practice on Poetry Generation</a:t>
            </a:r>
            <a:endParaRPr lang="en-GB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/>
              <a:t>iii) </a:t>
            </a:r>
            <a:r>
              <a:rPr lang="en-US" altLang="zh-CN"/>
              <a:t>Human-AI Symbiosis in Literature and Creative Practice (incl. Human-Computer Interaction/HCI)</a:t>
            </a:r>
            <a:endParaRPr lang="en-US" altLang="zh-CN"/>
          </a:p>
          <a:p>
            <a:pPr marL="0" indent="0">
              <a:buNone/>
              <a:defRPr sz="2400">
                <a:latin typeface="Times New Roman" panose="02020603050405020304"/>
              </a:defRPr>
            </a:pPr>
          </a:p>
        </p:txBody>
      </p:sp>
      <p:sp>
        <p:nvSpPr>
          <p:cNvPr id="4" name="文本框 3"/>
          <p:cNvSpPr txBox="1"/>
          <p:nvPr/>
        </p:nvSpPr>
        <p:spPr>
          <a:xfrm>
            <a:off x="457200" y="4438015"/>
            <a:ext cx="8313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zh-CN" sz="2400">
                <a:latin typeface="Times New Roman" panose="02020603050405020304" charset="0"/>
                <a:cs typeface="Times New Roman" panose="02020603050405020304" charset="0"/>
              </a:rPr>
              <a:t>Framework Anchors/keywords: Human-AI Co-creationship; Creative agency; AI value alignment.  </a:t>
            </a:r>
            <a:endParaRPr lang="en-GB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2020603050405020304"/>
              </a:rPr>
              <a:t>Philosophy &amp; Ethics: </a:t>
            </a:r>
            <a:r>
              <a:rPr lang="en-GB">
                <a:latin typeface="Times New Roman" panose="02020603050405020304"/>
              </a:rPr>
              <a:t>AI </a:t>
            </a:r>
            <a:r>
              <a:rPr>
                <a:latin typeface="Times New Roman" panose="02020603050405020304"/>
              </a:rPr>
              <a:t>Value Alignment</a:t>
            </a:r>
            <a:endParaRPr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Times New Roman" panose="02020603050405020304"/>
              </a:defRPr>
            </a:pPr>
            <a:r>
              <a:rPr sz="3200"/>
              <a:t>Turing vs Licklider: automation vs</a:t>
            </a:r>
            <a:r>
              <a:rPr lang="en-GB" sz="3200"/>
              <a:t>.</a:t>
            </a:r>
            <a:r>
              <a:rPr sz="3200"/>
              <a:t> symbiosis</a:t>
            </a:r>
            <a:endParaRPr sz="3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sz="3200"/>
          </a:p>
          <a:p>
            <a:pPr>
              <a:defRPr sz="2400">
                <a:latin typeface="Times New Roman" panose="02020603050405020304"/>
              </a:defRPr>
            </a:pPr>
            <a:r>
              <a:rPr lang="en-GB" sz="3200"/>
              <a:t>Risk of AI:</a:t>
            </a:r>
            <a:r>
              <a:rPr lang="en-US" altLang="zh-CN" sz="3200"/>
              <a:t> homogenization, loss of </a:t>
            </a:r>
            <a:r>
              <a:rPr lang="en-GB" altLang="en-US" sz="3200"/>
              <a:t>genuine </a:t>
            </a:r>
            <a:r>
              <a:rPr lang="en-US" altLang="zh-CN" sz="3200"/>
              <a:t>voice</a:t>
            </a:r>
            <a:endParaRPr lang="en-US" altLang="zh-CN" sz="3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lang="en-US" altLang="zh-CN" sz="3200"/>
          </a:p>
          <a:p>
            <a:pPr>
              <a:defRPr sz="2400">
                <a:latin typeface="Times New Roman" panose="02020603050405020304"/>
              </a:defRPr>
            </a:pPr>
            <a:r>
              <a:rPr sz="3200"/>
              <a:t>Hybrid VA</a:t>
            </a:r>
            <a:r>
              <a:rPr lang="en-GB" sz="3200"/>
              <a:t> (Value Alignment) method</a:t>
            </a:r>
            <a:r>
              <a:rPr sz="3200"/>
              <a:t>: ethical guardrails + user autonomy</a:t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95910" y="334010"/>
            <a:ext cx="65512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zh-CN">
                <a:latin typeface="Times New Roman" panose="02020603050405020304" charset="0"/>
                <a:cs typeface="Times New Roman" panose="02020603050405020304" charset="0"/>
              </a:rPr>
              <a:t>Co-creationship in Humanity studies and Machine learning: Different agenda, similar paths.</a:t>
            </a:r>
            <a:endParaRPr lang="en-GB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7950" y="1144270"/>
            <a:ext cx="4161155" cy="5155565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US" altLang="zh-CN" sz="1800">
                <a:solidFill>
                  <a:schemeClr val="tx1"/>
                </a:solidFill>
                <a:sym typeface="+mn-ea"/>
              </a:rPr>
              <a:t> Humanities’ Encounter with AI Poetry </a:t>
            </a:r>
            <a:endParaRPr lang="en-US" altLang="zh-CN" sz="18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lang="en-GB" sz="18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lang="en-GB" sz="18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 sz="1800">
                <a:solidFill>
                  <a:schemeClr val="tx1"/>
                </a:solidFill>
                <a:sym typeface="+mn-ea"/>
              </a:rPr>
              <a:t>C</a:t>
            </a:r>
            <a:r>
              <a:rPr sz="1800">
                <a:solidFill>
                  <a:schemeClr val="tx1"/>
                </a:solidFill>
                <a:sym typeface="+mn-ea"/>
              </a:rPr>
              <a:t>ritiques: </a:t>
            </a:r>
            <a:r>
              <a:rPr lang="en-GB" sz="1800">
                <a:solidFill>
                  <a:schemeClr val="tx1"/>
                </a:solidFill>
                <a:sym typeface="+mn-ea"/>
              </a:rPr>
              <a:t>AI poetry </a:t>
            </a:r>
            <a:r>
              <a:rPr sz="1800">
                <a:solidFill>
                  <a:schemeClr val="tx1"/>
                </a:solidFill>
                <a:sym typeface="+mn-ea"/>
              </a:rPr>
              <a:t>lack of depth/nuance</a:t>
            </a:r>
            <a:r>
              <a:rPr lang="en-GB" sz="1800">
                <a:solidFill>
                  <a:schemeClr val="tx1"/>
                </a:solidFill>
                <a:sym typeface="+mn-ea"/>
              </a:rPr>
              <a:t>;</a:t>
            </a:r>
            <a:r>
              <a:rPr sz="1800">
                <a:solidFill>
                  <a:schemeClr val="tx1"/>
                </a:solidFill>
                <a:sym typeface="+mn-ea"/>
              </a:rPr>
              <a:t> bias against AI authorship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sz="18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Newer views: AI as</a:t>
            </a:r>
            <a:r>
              <a:rPr lang="en-GB" sz="1800">
                <a:solidFill>
                  <a:schemeClr val="tx1"/>
                </a:solidFill>
                <a:sym typeface="+mn-ea"/>
              </a:rPr>
              <a:t> idea prompt,</a:t>
            </a:r>
            <a:r>
              <a:rPr sz="1800">
                <a:solidFill>
                  <a:schemeClr val="tx1"/>
                </a:solidFill>
                <a:sym typeface="+mn-ea"/>
              </a:rPr>
              <a:t> catalyst for creativity</a:t>
            </a:r>
            <a:r>
              <a:rPr lang="en-GB" sz="1800">
                <a:solidFill>
                  <a:schemeClr val="tx1"/>
                </a:solidFill>
                <a:sym typeface="+mn-ea"/>
              </a:rPr>
              <a:t> and support in writing</a:t>
            </a:r>
            <a:endParaRPr lang="en-GB" sz="180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sz="1800">
              <a:solidFill>
                <a:schemeClr val="tx1"/>
              </a:solidFill>
              <a:sym typeface="+mn-ea"/>
            </a:endParaRPr>
          </a:p>
          <a:p>
            <a:pPr>
              <a:defRPr sz="2400">
                <a:latin typeface="Times New Roman" panose="02020603050405020304"/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Persistent concerns: </a:t>
            </a:r>
            <a:r>
              <a:rPr lang="en-GB" sz="1800">
                <a:solidFill>
                  <a:schemeClr val="tx1"/>
                </a:solidFill>
                <a:sym typeface="+mn-ea"/>
              </a:rPr>
              <a:t>Authorship; Creative agency; </a:t>
            </a:r>
            <a:r>
              <a:rPr sz="1800">
                <a:solidFill>
                  <a:schemeClr val="tx1"/>
                </a:solidFill>
                <a:sym typeface="+mn-ea"/>
              </a:rPr>
              <a:t>The </a:t>
            </a:r>
            <a:r>
              <a:rPr lang="en-GB" sz="1800">
                <a:solidFill>
                  <a:schemeClr val="tx1"/>
                </a:solidFill>
                <a:sym typeface="+mn-ea"/>
              </a:rPr>
              <a:t>i</a:t>
            </a:r>
            <a:r>
              <a:rPr sz="1800">
                <a:solidFill>
                  <a:schemeClr val="tx1"/>
                </a:solidFill>
                <a:sym typeface="+mn-ea"/>
              </a:rPr>
              <a:t>rreducible</a:t>
            </a:r>
            <a:r>
              <a:rPr lang="en-GB" sz="1800">
                <a:solidFill>
                  <a:schemeClr val="tx1"/>
                </a:solidFill>
                <a:sym typeface="+mn-ea"/>
              </a:rPr>
              <a:t> human</a:t>
            </a:r>
            <a:r>
              <a:rPr sz="1800">
                <a:solidFill>
                  <a:schemeClr val="tx1"/>
                </a:solidFill>
                <a:sym typeface="+mn-ea"/>
              </a:rPr>
              <a:t> </a:t>
            </a:r>
            <a:r>
              <a:rPr lang="en-GB" sz="1800">
                <a:solidFill>
                  <a:schemeClr val="tx1"/>
                </a:solidFill>
                <a:sym typeface="+mn-ea"/>
              </a:rPr>
              <a:t> </a:t>
            </a:r>
            <a:r>
              <a:rPr sz="1800">
                <a:solidFill>
                  <a:schemeClr val="tx1"/>
                </a:solidFill>
                <a:sym typeface="+mn-ea"/>
              </a:rPr>
              <a:t>emotio</a:t>
            </a:r>
            <a:r>
              <a:rPr lang="en-GB" sz="1800">
                <a:solidFill>
                  <a:schemeClr val="tx1"/>
                </a:solidFill>
                <a:sym typeface="+mn-ea"/>
              </a:rPr>
              <a:t>ns embodied in poetry</a:t>
            </a:r>
            <a:endParaRPr lang="en-GB" sz="1800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643120" y="1155700"/>
            <a:ext cx="4242435" cy="51390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GB">
                <a:latin typeface="Times New Roman" panose="02020603050405020304"/>
                <a:sym typeface="+mn-ea"/>
              </a:rPr>
              <a:t>Machine Learning </a:t>
            </a:r>
            <a:r>
              <a:rPr>
                <a:latin typeface="Times New Roman" panose="02020603050405020304"/>
                <a:sym typeface="+mn-ea"/>
              </a:rPr>
              <a:t>Trajectory</a:t>
            </a:r>
            <a:endParaRPr>
              <a:latin typeface="Times New Roman" panose="02020603050405020304"/>
              <a:sym typeface="+mn-ea"/>
            </a:endParaRPr>
          </a:p>
          <a:p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Rule</a:t>
            </a:r>
            <a:r>
              <a:rPr 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-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based → statistical  → LLMs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teadily improves fluency and scale but shifts creativity toward probabilistic recombination.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latent problem is homogenization and agency loss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outputs converge toward corpus‑typical patterns, reduce absolute creativity, and can alienate human authorship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Constant need for </a:t>
            </a:r>
            <a:r>
              <a:rPr lang="en-GB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human input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2020603050405020304"/>
              </a:rPr>
              <a:t>Human Decisions = The Irreducible Core</a:t>
            </a:r>
            <a:endParaRPr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Times New Roman" panose="02020603050405020304"/>
              </a:defRPr>
            </a:pPr>
            <a:r>
              <a:t>Nuance emerges at transformation points</a:t>
            </a:r>
          </a:p>
          <a:p>
            <a:pPr>
              <a:defRPr sz="2400">
                <a:latin typeface="Times New Roman" panose="02020603050405020304"/>
              </a:defRPr>
            </a:pPr>
            <a:r>
              <a:t>Exclusive choices (word/line selection)</a:t>
            </a:r>
          </a:p>
          <a:p>
            <a:pPr>
              <a:defRPr sz="2400">
                <a:latin typeface="Times New Roman" panose="02020603050405020304"/>
              </a:defRPr>
            </a:pPr>
            <a:r>
              <a:t>Inclusive choices (integrating AI suggestions)</a:t>
            </a:r>
          </a:p>
          <a:p>
            <a:pPr marL="0" indent="0">
              <a:buNone/>
              <a:defRPr sz="2400">
                <a:latin typeface="Times New Roman" panose="02020603050405020304"/>
              </a:defRPr>
            </a:p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/>
              <a:t>Identifying research gap: The need for d</a:t>
            </a:r>
            <a:r>
              <a:t>ocumenting</a:t>
            </a:r>
            <a:r>
              <a:rPr lang="en-GB"/>
              <a:t> human</a:t>
            </a:r>
            <a:r>
              <a:t> decisions</a:t>
            </a:r>
            <a:r>
              <a:rPr lang="en-GB"/>
              <a:t> during co-creation process that</a:t>
            </a:r>
            <a:r>
              <a:t> reveals </a:t>
            </a:r>
            <a:r>
              <a:rPr lang="en-GB"/>
              <a:t>and reflect </a:t>
            </a:r>
            <a:r>
              <a:t>authorship</a:t>
            </a:r>
            <a:r>
              <a:rPr lang="en-GB"/>
              <a:t> and creative agency. 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Times New Roman" panose="02020603050405020304"/>
              </a:rPr>
              <a:t>Methodology: Previous </a:t>
            </a:r>
            <a:r>
              <a:rPr>
                <a:latin typeface="Times New Roman" panose="02020603050405020304"/>
              </a:rPr>
              <a:t>Human‑AI Collaboration Models</a:t>
            </a:r>
            <a:endParaRPr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Times New Roman" panose="02020603050405020304"/>
              </a:defRPr>
            </a:pPr>
            <a:r>
              <a:t>Pérez y Pérez</a:t>
            </a:r>
            <a:r>
              <a:rPr lang="en-GB"/>
              <a:t> (2010)</a:t>
            </a:r>
            <a:r>
              <a:t>: high </a:t>
            </a:r>
            <a:r>
              <a:rPr lang="en-GB"/>
              <a:t>machine </a:t>
            </a:r>
            <a:r>
              <a:t>automation</a:t>
            </a:r>
          </a:p>
          <a:p>
            <a:pPr>
              <a:defRPr sz="2400">
                <a:latin typeface="Times New Roman" panose="02020603050405020304"/>
              </a:defRPr>
            </a:pPr>
            <a:r>
              <a:t>Clark et al.</a:t>
            </a:r>
            <a:r>
              <a:rPr lang="en-GB"/>
              <a:t> (2018)</a:t>
            </a:r>
            <a:r>
              <a:t>: flexible but unstructured</a:t>
            </a:r>
          </a:p>
          <a:p>
            <a:pPr>
              <a:defRPr sz="2400">
                <a:latin typeface="Times New Roman" panose="02020603050405020304"/>
              </a:defRPr>
            </a:pPr>
            <a:r>
              <a:t>Chang &amp; Li</a:t>
            </a:r>
            <a:r>
              <a:rPr lang="en-GB"/>
              <a:t> (2025)</a:t>
            </a:r>
            <a:r>
              <a:t>: structured GPS</a:t>
            </a:r>
            <a:r>
              <a:rPr lang="en-GB"/>
              <a:t> but lack sufficient human input</a:t>
            </a:r>
          </a:p>
          <a:p>
            <a:pPr>
              <a:defRPr sz="2400">
                <a:latin typeface="Times New Roman" panose="02020603050405020304"/>
              </a:defRPr>
            </a:pPr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/>
              <a:t>Identifying gap: The n</a:t>
            </a:r>
            <a:r>
              <a:t>eed</a:t>
            </a:r>
            <a:r>
              <a:rPr lang="en-GB"/>
              <a:t> for</a:t>
            </a:r>
            <a:r>
              <a:t> </a:t>
            </a:r>
            <a:r>
              <a:rPr lang="en-GB"/>
              <a:t>a co-creation system that combines </a:t>
            </a:r>
            <a:r>
              <a:t>structured guidance </a:t>
            </a:r>
            <a:r>
              <a:rPr lang="en-GB"/>
              <a:t>with</a:t>
            </a:r>
            <a:r>
              <a:t> human agency</a:t>
            </a:r>
            <a:r>
              <a:rPr lang="en-GB"/>
              <a:t>. </a:t>
            </a: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 panose="02020603050405020304"/>
              </a:rPr>
              <a:t>Methodology</a:t>
            </a:r>
            <a:endParaRPr lang="en-GB">
              <a:latin typeface="Times New Roman" panose="02020603050405020304"/>
            </a:endParaRPr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US" sz="240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study concludes with a mixed-methods strategy</a:t>
            </a:r>
            <a:r>
              <a:rPr lang="en-GB" altLang="en-US" sz="240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Quantitatively, </a:t>
            </a:r>
            <a:r>
              <a:rPr lang="en-GB" altLang="en-US" sz="2400">
                <a:latin typeface="Times New Roman" panose="02020603050405020304" charset="0"/>
                <a:cs typeface="Times New Roman" panose="02020603050405020304" charset="0"/>
              </a:rPr>
              <a:t>we use a platform (</a:t>
            </a:r>
            <a:r>
              <a:rPr lang="en-GB" altLang="en-US" sz="2400" u="sng">
                <a:latin typeface="Times New Roman" panose="02020603050405020304" charset="0"/>
                <a:cs typeface="Times New Roman" panose="02020603050405020304" charset="0"/>
                <a:hlinkClick r:id="rId1" tooltip="" action="ppaction://hlinkfile"/>
              </a:rPr>
              <a:t>poetry.aitutor.ink</a:t>
            </a:r>
            <a:r>
              <a:rPr lang="en-GB" altLang="en-US" sz="2400"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400">
                <a:latin typeface="Times New Roman" panose="02020603050405020304" charset="0"/>
                <a:cs typeface="Times New Roman" panose="02020603050405020304" charset="0"/>
              </a:rPr>
              <a:t>to log 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chat records and document user decisions, enabling analysis of </a:t>
            </a:r>
            <a:r>
              <a:rPr lang="en-GB" altLang="en-US" sz="2400">
                <a:latin typeface="Times New Roman" panose="02020603050405020304" charset="0"/>
                <a:cs typeface="Times New Roman" panose="02020603050405020304" charset="0"/>
              </a:rPr>
              <a:t>human-AI 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interaction-type</a:t>
            </a:r>
            <a:r>
              <a:rPr lang="en-GB" altLang="en-US" sz="240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, frequency distributions, and related behavioral indicators. 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Qualitatively, panel discussion transcripts, participant feedback, and review comments are examined to interpret authorship perception and creative agency.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908"/>
            <a:ext cx="8229600" cy="1143000"/>
          </a:xfrm>
        </p:spPr>
        <p:txBody>
          <a:bodyPr/>
          <a:lstStyle/>
          <a:p>
            <a:r>
              <a:rPr>
                <a:latin typeface="Times New Roman" panose="02020603050405020304"/>
              </a:rPr>
              <a:t>Findings</a:t>
            </a:r>
            <a:endParaRPr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0950"/>
            <a:ext cx="8229600" cy="5707380"/>
          </a:xfrm>
        </p:spPr>
        <p:txBody>
          <a:bodyPr>
            <a:normAutofit fontScale="25000"/>
          </a:bodyPr>
          <a:lstStyle/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 sz="7200"/>
              <a:t>Experiment (platform) Development</a:t>
            </a:r>
            <a:br>
              <a:rPr lang="en-GB" sz="7200"/>
            </a:br>
            <a:endParaRPr lang="en-GB" sz="7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 sz="7200">
                <a:solidFill>
                  <a:srgbClr val="00B0F0"/>
                </a:solidFill>
              </a:rPr>
              <a:t>Phase one</a:t>
            </a:r>
            <a:r>
              <a:rPr lang="en-GB" sz="7200"/>
              <a:t> (experiment): P</a:t>
            </a:r>
            <a:r>
              <a:rPr lang="en-US" altLang="zh-CN" sz="7200"/>
              <a:t>latform</a:t>
            </a:r>
            <a:r>
              <a:rPr lang="en-GB" altLang="en-US" sz="7200"/>
              <a:t> deployed</a:t>
            </a:r>
            <a:r>
              <a:rPr lang="en-US" altLang="zh-CN" sz="7200"/>
              <a:t> with fixed parameter settings</a:t>
            </a:r>
            <a:r>
              <a:rPr lang="en-GB" altLang="en-US" sz="7200"/>
              <a:t> </a:t>
            </a:r>
            <a:r>
              <a:rPr lang="en-US" altLang="zh-CN" sz="7200"/>
              <a:t>in a 2</a:t>
            </a:r>
            <a:r>
              <a:rPr lang="en-US" altLang="en-US" sz="7200"/>
              <a:t>×</a:t>
            </a:r>
            <a:r>
              <a:rPr lang="en-US" altLang="zh-CN" sz="7200"/>
              <a:t>2 design</a:t>
            </a:r>
            <a:endParaRPr lang="en-US" altLang="zh-CN" sz="7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 sz="7200">
                <a:solidFill>
                  <a:srgbClr val="00B0F0"/>
                </a:solidFill>
              </a:rPr>
              <a:t>Phase two</a:t>
            </a:r>
            <a:r>
              <a:rPr lang="en-GB" sz="7200"/>
              <a:t> (n</a:t>
            </a:r>
            <a:r>
              <a:rPr lang="en-US" altLang="zh-CN" sz="7200"/>
              <a:t>aturalistic workshop): Platform used in a more open setting with voluntary parameter selection. </a:t>
            </a:r>
            <a:endParaRPr lang="en-US" altLang="zh-CN" sz="7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 sz="7200">
                <a:solidFill>
                  <a:srgbClr val="00B0F0"/>
                </a:solidFill>
              </a:rPr>
              <a:t>Phase three</a:t>
            </a:r>
            <a:r>
              <a:rPr lang="en-GB" sz="7200"/>
              <a:t> (online workshop): P</a:t>
            </a:r>
            <a:r>
              <a:rPr lang="en-US" altLang="zh-CN" sz="7200"/>
              <a:t>latform ran in an online environment, with students given evaluation standards to guide their writing and reduce entertainment-driven outpu</a:t>
            </a:r>
            <a:r>
              <a:rPr lang="en-GB" altLang="en-US" sz="7200"/>
              <a:t>t.</a:t>
            </a:r>
            <a:endParaRPr lang="en-US" altLang="zh-CN" sz="7200"/>
          </a:p>
          <a:p>
            <a:pPr>
              <a:defRPr sz="2400">
                <a:latin typeface="Times New Roman" panose="02020603050405020304"/>
              </a:defRPr>
            </a:pPr>
            <a:endParaRPr sz="7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r>
              <a:rPr lang="en-GB" sz="7200"/>
              <a:t>Key Takeaways:</a:t>
            </a:r>
            <a:endParaRPr lang="en-GB" sz="7200"/>
          </a:p>
          <a:p>
            <a:pPr marL="0" indent="0">
              <a:buNone/>
              <a:defRPr sz="2400">
                <a:latin typeface="Times New Roman" panose="02020603050405020304"/>
              </a:defRPr>
            </a:pPr>
            <a:endParaRPr lang="en-GB" sz="7200"/>
          </a:p>
          <a:p>
            <a:pPr>
              <a:defRPr sz="2400">
                <a:latin typeface="Times New Roman" panose="02020603050405020304"/>
              </a:defRPr>
            </a:pPr>
            <a:r>
              <a:rPr lang="en-GB" altLang="en-US" sz="7200"/>
              <a:t>AI </a:t>
            </a:r>
            <a:r>
              <a:rPr lang="en-US" altLang="zh-CN" sz="7200"/>
              <a:t>Parameters as pedagog</a:t>
            </a:r>
            <a:r>
              <a:rPr lang="en-GB" altLang="en-US" sz="7200"/>
              <a:t>ical design lever</a:t>
            </a:r>
            <a:endParaRPr lang="en-US" altLang="zh-CN" sz="7200"/>
          </a:p>
          <a:p>
            <a:pPr>
              <a:defRPr sz="2400">
                <a:latin typeface="Times New Roman" panose="02020603050405020304"/>
              </a:defRPr>
            </a:pPr>
            <a:r>
              <a:rPr sz="7200"/>
              <a:t>Helpful AI</a:t>
            </a:r>
            <a:r>
              <a:rPr lang="en-GB" sz="7200"/>
              <a:t> lead to surface learning while diminishing creativity and user satisfaction</a:t>
            </a:r>
            <a:endParaRPr sz="7200"/>
          </a:p>
          <a:p>
            <a:pPr>
              <a:defRPr sz="2400">
                <a:latin typeface="Times New Roman" panose="02020603050405020304"/>
              </a:defRPr>
            </a:pPr>
            <a:r>
              <a:rPr lang="en-GB" sz="7200"/>
              <a:t>Critical engagement </a:t>
            </a:r>
            <a:r>
              <a:rPr sz="7200"/>
              <a:t>restores </a:t>
            </a:r>
            <a:r>
              <a:rPr lang="en-GB" sz="7200"/>
              <a:t>sense of authorship</a:t>
            </a:r>
            <a:endParaRPr lang="en-GB" sz="7200"/>
          </a:p>
          <a:p>
            <a:pPr>
              <a:defRPr sz="2400">
                <a:latin typeface="Times New Roman" panose="02020603050405020304"/>
              </a:defRPr>
            </a:pPr>
            <a:endParaRPr lang="en-GB" sz="5600"/>
          </a:p>
          <a:p>
            <a:pPr>
              <a:defRPr sz="2400">
                <a:latin typeface="Times New Roman" panose="02020603050405020304"/>
              </a:defRPr>
            </a:pPr>
            <a:endParaRPr lang="en-GB"/>
          </a:p>
          <a:p>
            <a:pPr>
              <a:defRPr sz="2400">
                <a:latin typeface="Times New Roman" panose="02020603050405020304"/>
              </a:defRPr>
            </a:pPr>
            <a:endParaRPr lang="en-GB"/>
          </a:p>
          <a:p>
            <a:pPr>
              <a:defRPr sz="2400">
                <a:latin typeface="Times New Roman" panose="02020603050405020304"/>
              </a:defRPr>
            </a:pPr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zh-CN">
                <a:latin typeface="Times New Roman" panose="02020603050405020304" charset="0"/>
                <a:cs typeface="Times New Roman" panose="02020603050405020304" charset="0"/>
              </a:rPr>
              <a:t>Expectations from Penal Feedback</a:t>
            </a:r>
            <a:endParaRPr lang="en-GB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zh-CN"/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Identify missing or miscategorized sources in the reading list.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Flag conceptual inconsistencies between literature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framework, and methods.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Suggest 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future development for the research.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3873</Words>
  <Application>WPS 演示</Application>
  <PresentationFormat>On-screen Show (4:3)</PresentationFormat>
  <Paragraphs>119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Calibri</vt:lpstr>
      <vt:lpstr>Times New Roman</vt:lpstr>
      <vt:lpstr>Office Theme</vt:lpstr>
      <vt:lpstr>Mapping Human and AI Partnership</vt:lpstr>
      <vt:lpstr>PowerPoint 演示文稿</vt:lpstr>
      <vt:lpstr>Research Motivation &amp; Core Question</vt:lpstr>
      <vt:lpstr>Humanities Lens: Skepticism → Shift</vt:lpstr>
      <vt:lpstr>Philosophy &amp; Ethics: Value Alignment</vt:lpstr>
      <vt:lpstr>AI Roles in Poetry Creation</vt:lpstr>
      <vt:lpstr>Human Decisions = The Irreducible Core</vt:lpstr>
      <vt:lpstr>Human‑AI Collaboration Models</vt:lpstr>
      <vt:lpstr>Case Study: Parameter‑Driven Platform</vt:lpstr>
      <vt:lpstr>Key Findings: Helpful‑But‑Alienating Paradox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Ruobin Yu</cp:lastModifiedBy>
  <cp:revision>3</cp:revision>
  <dcterms:created xsi:type="dcterms:W3CDTF">2013-01-27T09:14:00Z</dcterms:created>
  <dcterms:modified xsi:type="dcterms:W3CDTF">2026-02-06T05:59:16Z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DA54992718F24420A8EA5251AF4D9D31_13</vt:lpwstr>
  </property>
  <property fmtid="{D5CDD505-2E9C-101B-9397-08002B2CF9AE}" pid="3" name="KSOProductBuildVer">
    <vt:lpwstr>2052-12.1.0.24657</vt:lpwstr>
  </property>
</Properties>
</file>